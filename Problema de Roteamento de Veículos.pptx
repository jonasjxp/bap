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436" r:id="rId5"/>
    <p:sldId id="437" r:id="rId6"/>
    <p:sldId id="438" r:id="rId7"/>
    <p:sldId id="450" r:id="rId8"/>
    <p:sldId id="449" r:id="rId9"/>
    <p:sldId id="451" r:id="rId10"/>
    <p:sldId id="463" r:id="rId11"/>
    <p:sldId id="452" r:id="rId12"/>
    <p:sldId id="453" r:id="rId13"/>
    <p:sldId id="454" r:id="rId14"/>
    <p:sldId id="455" r:id="rId15"/>
    <p:sldId id="457" r:id="rId16"/>
    <p:sldId id="458" r:id="rId17"/>
    <p:sldId id="459" r:id="rId18"/>
    <p:sldId id="461" r:id="rId19"/>
    <p:sldId id="462" r:id="rId20"/>
    <p:sldId id="435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046"/>
    <a:srgbClr val="418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94" autoAdjust="0"/>
  </p:normalViewPr>
  <p:slideViewPr>
    <p:cSldViewPr snapToGrid="0">
      <p:cViewPr varScale="1">
        <p:scale>
          <a:sx n="63" d="100"/>
          <a:sy n="63" d="100"/>
        </p:scale>
        <p:origin x="936" y="528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9B9210A2-FB71-452F-870E-CEF60E360533}" type="datetime1">
              <a:rPr lang="pt-BR" smtClean="0"/>
              <a:t>13/01/2026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509210F9-8331-407C-A034-F95DCB303EB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721B74C-B0F1-4513-A0E4-6ECDEBC778FB}" type="datetime1">
              <a:rPr lang="pt-BR" smtClean="0"/>
              <a:t>13/01/2026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32BF9438-3EEF-4192-9815-F6F44770AE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2D5E-DA01-04A5-FBA8-AFF0FCD9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E72FA6F-9920-B815-BD6C-15A680F05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9EFC1B6-B694-9009-0184-A4625183F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B5F0E61-A10F-0021-5534-CAAD5FA1F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95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7A30-DD2E-3B0B-E50F-49DCEB9F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8E916DC-52F3-5A46-FD61-ABF312C87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3968724-DD8D-0946-0B8E-30D7D274D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3991240-8340-E8F1-911D-5CF07F422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532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EA7DF-0E88-DBAE-A524-8D03ED19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30AEABC-DD07-1ED3-1A90-8EE46A890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11615F3-A057-18D0-3AAE-07F6D7B45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F7C28B9-59F4-D87E-C3D1-F775FA00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1078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A5A1-E9E4-FAA0-2F7E-5E6F10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B93CED2-9155-5FAC-95DB-BFE9F0A1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5A7AB4D-9460-F116-39AA-A04269B6C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4EA5C32-F5B3-9897-C4F8-A33749272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3158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8C50E-BAD8-41A0-56A5-648593AF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7A43D2F-2B82-B3A6-FF8A-143399D44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1E192AC-EA28-679F-AEFE-A31107E8B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DFC091B-1093-ABF2-D45C-ED1EA525B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7197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88A1-9379-A168-CBEE-7C911CE6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3A98B23-4421-730D-1A3A-4A6BE3520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2E84251-41F1-35C6-5CD5-3AFC203FA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842FFFF-776B-6FA4-0AC5-843B78241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604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2D6F-9A0A-DDD2-DC87-197AA047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FE5208B-88CD-B955-4B6E-0AB9A9B8F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315EC58-7EE4-37E6-2D23-BF4BFF79E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34485D2-1A6A-FEB5-5328-E08294A1E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1200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4A34-88C2-C05E-62DA-8CF5955E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A62AAB4-3B93-1D68-7DE7-3B5B6648C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BC475D5-321E-5960-EF9C-E26D1A5A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3ACF2DE-01C6-8329-A4C0-F85DED3FF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8582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5DAD-D0A1-F328-CA05-21B75126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8927D77-DE12-B527-C12F-2F6F80690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B093C49-5E7B-D929-1A4D-876D0708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70F9D51-8F9D-F703-D937-27D393C37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4732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D5D0-2274-9E29-2989-A1FBBF62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721B072-0384-4106-6CFE-D8C7751BD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19E634D-FB17-84AF-A3A6-7F49E1DC2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0ED6356-D7E9-25B0-4A4E-213B47D7A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7668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8AD9-61BF-F4E3-DA4C-3A88E3B5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D6D5004-80E6-FC2B-BF56-71AD9351C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D1C77C4-7BCB-6567-1D42-474A5E096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A1D655E-3B29-F54D-A923-FEC06D2F0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095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8065-8D6D-E2B7-D4D8-E1C0E5C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24D16C6-436B-381B-1E1E-B7BFA6DE2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4FE13B3-2405-2707-8C36-92D981C9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31CC8D1-1583-1265-CE8E-6DBC9A1E2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2045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6054-E420-AA85-0ED9-A3702428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E644568-91F9-F967-6041-1659C2338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F550367-9928-3956-D580-D258588C2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6A82D38-E7CF-433F-8220-5AD1C20ED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5190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32BF9438-3EEF-4192-9815-F6F44770AEF7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 rtlCol="0"/>
          <a:lstStyle>
            <a:lvl1pPr algn="ctr"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6" name="Forma Livre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Forma Livre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944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ca 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4" name="Forma Livre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Forma Livre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Forma Livre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rtlCol="0" anchor="ctr">
            <a:normAutofit/>
          </a:bodyPr>
          <a:lstStyle>
            <a:lvl1pPr marL="0" indent="0">
              <a:buNone/>
              <a:defRPr lang="pt-BR" sz="1800"/>
            </a:lvl1pPr>
            <a:lvl2pPr marL="457200" indent="0">
              <a:buNone/>
              <a:defRPr lang="pt-BR" sz="1600"/>
            </a:lvl2pPr>
            <a:lvl3pPr marL="914400" indent="0">
              <a:buNone/>
              <a:defRPr lang="pt-BR" sz="1400"/>
            </a:lvl3pPr>
            <a:lvl4pPr marL="1371600" indent="0">
              <a:buNone/>
              <a:defRPr lang="pt-BR" sz="1200"/>
            </a:lvl4pPr>
            <a:lvl5pPr marL="1828800" indent="0">
              <a:buNone/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376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Forma Livre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Imagem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rtlCol="0" anchor="t" anchorCtr="0">
            <a:noAutofit/>
          </a:bodyPr>
          <a:lstStyle>
            <a:lvl1pPr marL="0" indent="0" algn="ctr">
              <a:buNone/>
              <a:defRPr lang="pt-BR" sz="16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045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e Imagem do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rtlCol="0" anchor="b">
            <a:normAutofit/>
          </a:bodyPr>
          <a:lstStyle>
            <a:lvl1pPr>
              <a:defRPr lang="pt-BR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pt-BR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bg2"/>
                </a:solidFill>
              </a:defRPr>
            </a:lvl1pPr>
            <a:lvl2pPr marL="457200" indent="0">
              <a:buNone/>
              <a:defRPr lang="pt-BR" sz="1600">
                <a:solidFill>
                  <a:schemeClr val="bg2"/>
                </a:solidFill>
              </a:defRPr>
            </a:lvl2pPr>
            <a:lvl3pPr marL="914400" indent="0">
              <a:buNone/>
              <a:defRPr lang="pt-BR" sz="1400">
                <a:solidFill>
                  <a:schemeClr val="bg2"/>
                </a:solidFill>
              </a:defRPr>
            </a:lvl3pPr>
            <a:lvl4pPr marL="1371600" indent="0">
              <a:buNone/>
              <a:defRPr lang="pt-BR" sz="1200">
                <a:solidFill>
                  <a:schemeClr val="bg2"/>
                </a:solidFill>
              </a:defRPr>
            </a:lvl4pPr>
            <a:lvl5pPr marL="1828800" indent="0">
              <a:buNone/>
              <a:defRPr lang="pt-BR" sz="12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7" name="Forma livre: Forma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3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Forma Livre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Forma Livre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88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6" name="Forma Livre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Forma Livre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Forma Livre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rtlCol="0" anchor="b">
            <a:normAutofit/>
          </a:bodyPr>
          <a:lstStyle>
            <a:lvl1pPr algn="ctr">
              <a:defRPr lang="pt-BR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1800">
                <a:solidFill>
                  <a:schemeClr val="bg2"/>
                </a:solidFill>
              </a:defRPr>
            </a:lvl1pPr>
            <a:lvl2pPr marL="457200" indent="0" algn="ctr">
              <a:buNone/>
              <a:defRPr lang="pt-BR" sz="1600">
                <a:solidFill>
                  <a:schemeClr val="bg2"/>
                </a:solidFill>
              </a:defRPr>
            </a:lvl2pPr>
            <a:lvl3pPr marL="914400" indent="0" algn="ctr">
              <a:buNone/>
              <a:defRPr lang="pt-BR" sz="1400">
                <a:solidFill>
                  <a:schemeClr val="bg2"/>
                </a:solidFill>
              </a:defRPr>
            </a:lvl3pPr>
            <a:lvl4pPr marL="1371600" indent="0" algn="ctr">
              <a:buNone/>
              <a:defRPr lang="pt-BR" sz="1200">
                <a:solidFill>
                  <a:schemeClr val="bg2"/>
                </a:solidFill>
              </a:defRPr>
            </a:lvl4pPr>
            <a:lvl5pPr marL="1828800" indent="0" algn="ctr">
              <a:buNone/>
              <a:defRPr lang="pt-BR" sz="12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246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Forma Livre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7" name="Forma Livre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Conteúdo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o Número do Slide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781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2 Colun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Forma Livre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3"/>
            <a:ext cx="3347782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Conteúdo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25269" y="2274033"/>
            <a:ext cx="603654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50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do Título e 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Forma Livre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357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e tabela d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19">
            <a:extLst>
              <a:ext uri="{FF2B5EF4-FFF2-40B4-BE49-F238E27FC236}">
                <a16:creationId xmlns:a16="http://schemas.microsoft.com/office/drawing/2014/main" id="{37D82C4C-B372-8DAD-C78B-5A7079992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CE543C86-04BB-A7E0-26E4-1A793E98C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052" y="345441"/>
            <a:ext cx="10202248" cy="1766918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20">
            <a:extLst>
              <a:ext uri="{FF2B5EF4-FFF2-40B4-BE49-F238E27FC236}">
                <a16:creationId xmlns:a16="http://schemas.microsoft.com/office/drawing/2014/main" id="{D1D15020-88F7-93D5-282B-0C23CB7578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5" y="2282826"/>
            <a:ext cx="3180475" cy="365125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abela 11">
            <a:extLst>
              <a:ext uri="{FF2B5EF4-FFF2-40B4-BE49-F238E27FC236}">
                <a16:creationId xmlns:a16="http://schemas.microsoft.com/office/drawing/2014/main" id="{675AC522-525C-4C6F-8F28-3B2FC909B3F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40300" y="2282825"/>
            <a:ext cx="5880100" cy="3651250"/>
          </a:xfrm>
        </p:spPr>
        <p:txBody>
          <a:bodyPr rtlCol="0"/>
          <a:lstStyle>
            <a:lvl1pPr marL="0" indent="0">
              <a:buNone/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8" name="Espaço Reservado para o Número do Slide 5">
            <a:extLst>
              <a:ext uri="{FF2B5EF4-FFF2-40B4-BE49-F238E27FC236}">
                <a16:creationId xmlns:a16="http://schemas.microsoft.com/office/drawing/2014/main" id="{B00D9D4E-52D5-4BAF-8096-D301073D3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80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2 Colun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Forma Livre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9269" y="2284193"/>
            <a:ext cx="603654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Conteúdo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708899" y="2284193"/>
            <a:ext cx="325291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pt-BR" sz="1200" b="1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5025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9">
            <a:extLst>
              <a:ext uri="{FF2B5EF4-FFF2-40B4-BE49-F238E27FC236}">
                <a16:creationId xmlns:a16="http://schemas.microsoft.com/office/drawing/2014/main" id="{BE9B1BD7-8F62-244D-062B-D0A716D1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54BAE39C-758E-B299-0906-86DA058B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75" y="345440"/>
            <a:ext cx="9448803" cy="1743542"/>
          </a:xfrm>
        </p:spPr>
        <p:txBody>
          <a:bodyPr rtlCol="0">
            <a:normAutofit/>
          </a:bodyPr>
          <a:lstStyle>
            <a:lvl1pPr>
              <a:defRPr lang="pt-BR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Tabela 9">
            <a:extLst>
              <a:ext uri="{FF2B5EF4-FFF2-40B4-BE49-F238E27FC236}">
                <a16:creationId xmlns:a16="http://schemas.microsoft.com/office/drawing/2014/main" id="{ED21C7D0-0E84-DFA8-FC77-93D7B17FA7E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65250" y="2295525"/>
            <a:ext cx="9448800" cy="3652838"/>
          </a:xfrm>
        </p:spPr>
        <p:txBody>
          <a:bodyPr rtlCol="0"/>
          <a:lstStyle>
            <a:lvl1pPr marL="0" indent="0">
              <a:buNone/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7" name="Espaço Reservado para o Número do Slide 5">
            <a:extLst>
              <a:ext uri="{FF2B5EF4-FFF2-40B4-BE49-F238E27FC236}">
                <a16:creationId xmlns:a16="http://schemas.microsoft.com/office/drawing/2014/main" id="{844F72DC-A10E-0921-2E94-08CAC9D50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5734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chament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 rtlCol="0">
            <a:normAutofit/>
          </a:bodyPr>
          <a:lstStyle>
            <a:lvl1pPr>
              <a:defRPr lang="pt-BR" sz="48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Forma Livre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Forma Livre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pt-BR"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lang="pt-BR"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lang="pt-BR"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lang="pt-BR"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lang="pt-BR" sz="1200" b="1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354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39807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sz="1000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20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69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lang="pt-BR"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pt-BR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pt-BR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pt-BR"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pt-BR"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9.xml"/><Relationship Id="rId7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3.xml"/><Relationship Id="rId7" Type="http://schemas.openxmlformats.org/officeDocument/2006/relationships/image" Target="../media/image1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6" y="-1215482"/>
            <a:ext cx="10202248" cy="5094496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Problema de Roteamento de Veículos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08AB70BE-1769-45B8-85A6-0C837432C7E6}" type="slidenum">
              <a:rPr lang="pt-BR" smtClean="0"/>
              <a:pPr/>
              <a:t>1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C6680E0-4B35-C564-637D-B7D55614A393}"/>
              </a:ext>
            </a:extLst>
          </p:cNvPr>
          <p:cNvSpPr txBox="1"/>
          <p:nvPr/>
        </p:nvSpPr>
        <p:spPr>
          <a:xfrm flipH="1">
            <a:off x="1158240" y="4413444"/>
            <a:ext cx="480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Jonas X. </a:t>
            </a:r>
            <a:br>
              <a:rPr lang="pt-BR" sz="32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</a:br>
            <a:r>
              <a:rPr lang="pt-BR" sz="32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Francisco das Chagas </a:t>
            </a:r>
            <a:br>
              <a:rPr lang="pt-BR" sz="32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</a:br>
            <a:r>
              <a:rPr lang="pt-BR" sz="3200" dirty="0" err="1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Ranelle</a:t>
            </a:r>
            <a:r>
              <a:rPr lang="pt-BR" sz="32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 Oliveira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EE7C99-3286-4002-2C56-8806BA6C437C}"/>
              </a:ext>
            </a:extLst>
          </p:cNvPr>
          <p:cNvSpPr txBox="1"/>
          <p:nvPr/>
        </p:nvSpPr>
        <p:spPr>
          <a:xfrm>
            <a:off x="7452360" y="5459884"/>
            <a:ext cx="4739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Universidade</a:t>
            </a:r>
            <a:r>
              <a:rPr lang="pt-BR" sz="2800" dirty="0"/>
              <a:t> </a:t>
            </a:r>
            <a:r>
              <a:rPr lang="pt-BR" sz="2800" dirty="0">
                <a:solidFill>
                  <a:schemeClr val="bg1"/>
                </a:solidFill>
                <a:latin typeface="Aptos Display" panose="020B0004020202020204" pitchFamily="34" charset="0"/>
                <a:ea typeface="+mj-ea"/>
                <a:cs typeface="+mj-cs"/>
              </a:rPr>
              <a:t>Federal do Ceará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1534F3-D4DE-82B7-F99C-CCDFE51ECB3B}"/>
              </a:ext>
            </a:extLst>
          </p:cNvPr>
          <p:cNvSpPr txBox="1"/>
          <p:nvPr/>
        </p:nvSpPr>
        <p:spPr>
          <a:xfrm>
            <a:off x="2278380" y="3013501"/>
            <a:ext cx="7635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rPr>
              <a:t>Otimização</a:t>
            </a:r>
            <a:r>
              <a:rPr lang="pt-BR" dirty="0">
                <a:latin typeface="Aptos Black" panose="020B0004020202020204" pitchFamily="34" charset="0"/>
              </a:rPr>
              <a:t> </a:t>
            </a:r>
            <a:r>
              <a:rPr lang="pt-BR" sz="4800" dirty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rPr>
              <a:t>combinatória</a:t>
            </a: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1" y="2377440"/>
            <a:ext cx="3291839" cy="164814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5400" dirty="0">
                <a:latin typeface="Aptos Display" panose="020B0004020202020204" pitchFamily="34" charset="0"/>
              </a:rPr>
              <a:t>Sumário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80376" y="1545907"/>
            <a:ext cx="5856175" cy="3766185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457200" indent="-457200" rtl="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MD-OVRP-SS</a:t>
            </a:r>
          </a:p>
          <a:p>
            <a:pPr marL="457200" indent="-45720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O problema</a:t>
            </a:r>
          </a:p>
          <a:p>
            <a:pPr marL="457200" indent="-457200" rtl="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A modelagem (Set </a:t>
            </a:r>
            <a:r>
              <a:rPr lang="pt-BR" sz="2600" b="1" dirty="0" err="1">
                <a:solidFill>
                  <a:schemeClr val="tx1"/>
                </a:solidFill>
              </a:rPr>
              <a:t>Partitioning</a:t>
            </a:r>
            <a:r>
              <a:rPr lang="pt-BR" sz="2600" b="1" dirty="0">
                <a:solidFill>
                  <a:schemeClr val="tx1"/>
                </a:solidFill>
              </a:rPr>
              <a:t>)</a:t>
            </a:r>
          </a:p>
          <a:p>
            <a:pPr marL="914400" lvl="1" indent="-457200">
              <a:buClr>
                <a:srgbClr val="418187"/>
              </a:buClr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</a:rPr>
              <a:t>Variáveis</a:t>
            </a:r>
          </a:p>
          <a:p>
            <a:pPr marL="914400" lvl="1" indent="-457200">
              <a:buClr>
                <a:srgbClr val="418187"/>
              </a:buClr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</a:rPr>
              <a:t>Restrições</a:t>
            </a:r>
          </a:p>
          <a:p>
            <a:pPr marL="914400" lvl="1" indent="-457200">
              <a:buClr>
                <a:srgbClr val="418187"/>
              </a:buClr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</a:rPr>
              <a:t>Função objetivo</a:t>
            </a:r>
          </a:p>
          <a:p>
            <a:pPr marL="457200" indent="-457200" rtl="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Implementação (Branch-</a:t>
            </a:r>
            <a:r>
              <a:rPr lang="pt-BR" sz="2600" b="1" dirty="0" err="1">
                <a:solidFill>
                  <a:schemeClr val="tx1"/>
                </a:solidFill>
              </a:rPr>
              <a:t>and</a:t>
            </a:r>
            <a:r>
              <a:rPr lang="pt-BR" sz="2600" b="1" dirty="0">
                <a:solidFill>
                  <a:schemeClr val="tx1"/>
                </a:solidFill>
              </a:rPr>
              <a:t>-</a:t>
            </a:r>
            <a:r>
              <a:rPr lang="pt-BR" sz="2600" b="1" dirty="0" err="1">
                <a:solidFill>
                  <a:schemeClr val="tx1"/>
                </a:solidFill>
              </a:rPr>
              <a:t>Price</a:t>
            </a:r>
            <a:r>
              <a:rPr lang="pt-BR" sz="2600" b="1" dirty="0">
                <a:solidFill>
                  <a:schemeClr val="tx1"/>
                </a:solidFill>
              </a:rPr>
              <a:t>)</a:t>
            </a:r>
          </a:p>
          <a:p>
            <a:pPr marL="457200" indent="-457200" rtl="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Resultados (Sintético e Real)</a:t>
            </a:r>
          </a:p>
          <a:p>
            <a:pPr marL="457200" indent="-457200" rtl="0">
              <a:buClr>
                <a:srgbClr val="418187"/>
              </a:buClr>
              <a:buFont typeface="+mj-lt"/>
              <a:buAutoNum type="arabicPeriod"/>
            </a:pPr>
            <a:r>
              <a:rPr lang="pt-BR" sz="2600" b="1" dirty="0">
                <a:solidFill>
                  <a:schemeClr val="tx1"/>
                </a:solidFill>
              </a:rPr>
              <a:t>Conclusão e trabalhos futuros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08AB70BE-1769-45B8-85A6-0C837432C7E6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48" y="246183"/>
            <a:ext cx="9525000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 err="1">
                <a:latin typeface="Aptos Black" panose="020B0004020202020204" pitchFamily="34" charset="0"/>
              </a:rPr>
              <a:t>Multi-Depot</a:t>
            </a:r>
            <a:r>
              <a:rPr lang="pt-BR" dirty="0">
                <a:latin typeface="Aptos Black" panose="020B0004020202020204" pitchFamily="34" charset="0"/>
              </a:rPr>
              <a:t> Open VRP com destino final fixo (Single </a:t>
            </a:r>
            <a:r>
              <a:rPr lang="pt-BR" dirty="0" err="1">
                <a:latin typeface="Aptos Black" panose="020B0004020202020204" pitchFamily="34" charset="0"/>
              </a:rPr>
              <a:t>Sink</a:t>
            </a:r>
            <a:r>
              <a:rPr lang="pt-BR" dirty="0">
                <a:latin typeface="Aptos Black" panose="020B0004020202020204" pitchFamily="34" charset="0"/>
              </a:rPr>
              <a:t>)</a:t>
            </a:r>
          </a:p>
        </p:txBody>
      </p:sp>
      <p:pic>
        <p:nvPicPr>
          <p:cNvPr id="6" name="Espaço Reservado para Imagem 4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/>
        </p:blipFill>
        <p:spPr>
          <a:xfrm>
            <a:off x="917886" y="2165705"/>
            <a:ext cx="5741994" cy="3646168"/>
          </a:xfrm>
          <a:noFill/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3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0DC06B-D9F5-C18C-1D7F-924EA7B1EAFE}"/>
              </a:ext>
            </a:extLst>
          </p:cNvPr>
          <p:cNvSpPr txBox="1"/>
          <p:nvPr/>
        </p:nvSpPr>
        <p:spPr>
          <a:xfrm>
            <a:off x="6878332" y="216570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>
                <a:latin typeface="Aptos Display" panose="020B0004020202020204" pitchFamily="34" charset="0"/>
              </a:rPr>
              <a:t>Existem m garagens (depósitos): pontos de partida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>
                <a:latin typeface="Aptos Display" panose="020B0004020202020204" pitchFamily="34" charset="0"/>
              </a:rPr>
              <a:t>Existem n clientes: devem ser atendidos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>
                <a:latin typeface="Aptos Display" panose="020B0004020202020204" pitchFamily="34" charset="0"/>
              </a:rPr>
              <a:t>Existe um destino final comum (</a:t>
            </a:r>
            <a:r>
              <a:rPr lang="pt-BR" dirty="0" err="1">
                <a:latin typeface="Aptos Display" panose="020B0004020202020204" pitchFamily="34" charset="0"/>
              </a:rPr>
              <a:t>sink</a:t>
            </a:r>
            <a:r>
              <a:rPr lang="pt-BR" dirty="0">
                <a:latin typeface="Aptos Display" panose="020B0004020202020204" pitchFamily="34" charset="0"/>
              </a:rPr>
              <a:t> / escola)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>
                <a:latin typeface="Aptos Display" panose="020B0004020202020204" pitchFamily="34" charset="0"/>
              </a:rPr>
              <a:t>Cada veículo: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ptos Display" panose="020B0004020202020204" pitchFamily="34" charset="0"/>
              </a:rPr>
              <a:t>Parte de uma garagem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ptos Display" panose="020B0004020202020204" pitchFamily="34" charset="0"/>
              </a:rPr>
              <a:t>Visita uma sequência de clientes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ptos Display" panose="020B0004020202020204" pitchFamily="34" charset="0"/>
              </a:rPr>
              <a:t>Termina no </a:t>
            </a:r>
            <a:r>
              <a:rPr lang="pt-BR" dirty="0" err="1">
                <a:latin typeface="Aptos Display" panose="020B0004020202020204" pitchFamily="34" charset="0"/>
              </a:rPr>
              <a:t>sink</a:t>
            </a:r>
            <a:endParaRPr lang="pt-BR" dirty="0">
              <a:latin typeface="Aptos Display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ptos Display" panose="020B0004020202020204" pitchFamily="34" charset="0"/>
              </a:rPr>
              <a:t>Não retorna ao depósito (rota aberta)</a:t>
            </a: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CC17-657F-19B9-C495-CA219ABE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BCD63134-5562-8AC8-9C05-5019DE9F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722" y="166454"/>
            <a:ext cx="2792555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O Problema 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53AFE0E-F2F5-A93D-685B-BC3597846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4</a:t>
            </a:fld>
            <a:endParaRPr lang="pt-BR"/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9EA196CA-BE95-E809-1D1F-83DB2A73E5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89376" y="2085975"/>
            <a:ext cx="10293024" cy="3766185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3200" dirty="0">
                <a:solidFill>
                  <a:schemeClr val="tx1"/>
                </a:solidFill>
                <a:latin typeface="Aptos Display" panose="020B0004020202020204" pitchFamily="34" charset="0"/>
              </a:rPr>
              <a:t>Cada cliente é atendido exatamente uma vez;</a:t>
            </a:r>
          </a:p>
          <a:p>
            <a:r>
              <a:rPr lang="pt-BR" sz="3200" dirty="0">
                <a:solidFill>
                  <a:schemeClr val="tx1"/>
                </a:solidFill>
                <a:latin typeface="Aptos Display" panose="020B0004020202020204" pitchFamily="34" charset="0"/>
              </a:rPr>
              <a:t>Capacidade por veículo: cada rota atende no máximo Q clientes, sendo demanda unitária por cliente;</a:t>
            </a:r>
          </a:p>
          <a:p>
            <a:r>
              <a:rPr lang="pt-BR" sz="3200" dirty="0">
                <a:solidFill>
                  <a:schemeClr val="tx1"/>
                </a:solidFill>
                <a:latin typeface="Aptos Display" panose="020B0004020202020204" pitchFamily="34" charset="0"/>
              </a:rPr>
              <a:t>Frota limitada: no máximo K rotas/veículos no total;</a:t>
            </a:r>
          </a:p>
          <a:p>
            <a:r>
              <a:rPr lang="pt-BR" sz="3200" dirty="0">
                <a:solidFill>
                  <a:schemeClr val="tx1"/>
                </a:solidFill>
                <a:latin typeface="Aptos Display" panose="020B0004020202020204" pitchFamily="34" charset="0"/>
              </a:rPr>
              <a:t>Função objetivo: minimizar o custo total </a:t>
            </a:r>
          </a:p>
        </p:txBody>
      </p:sp>
    </p:spTree>
    <p:extLst>
      <p:ext uri="{BB962C8B-B14F-4D97-AF65-F5344CB8AC3E}">
        <p14:creationId xmlns:p14="http://schemas.microsoft.com/office/powerpoint/2010/main" val="166411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0EBD-74EF-2C97-4641-F16AAFBA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02F1FD4-32BA-3188-FD93-EAA38FA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874" y="342307"/>
            <a:ext cx="4714252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Restrições e objetivo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EE6C13E-FB96-96E2-4CD3-3F12E60B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5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BCA9A2-73F4-FC61-5455-C89D70A0F551}"/>
              </a:ext>
            </a:extLst>
          </p:cNvPr>
          <p:cNvSpPr txBox="1"/>
          <p:nvPr/>
        </p:nvSpPr>
        <p:spPr>
          <a:xfrm>
            <a:off x="1409784" y="2522131"/>
            <a:ext cx="998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ptos Display" panose="020B0004020202020204" pitchFamily="34" charset="0"/>
              </a:rPr>
              <a:t>Define Ω como o conjunto de todas as rotas viáveis do tipo: </a:t>
            </a:r>
          </a:p>
          <a:p>
            <a:r>
              <a:rPr lang="pt-BR" sz="2400" dirty="0">
                <a:latin typeface="Aptos Display" panose="020B0004020202020204" pitchFamily="34" charset="0"/>
              </a:rPr>
              <a:t>Depot → (subconjunto de clientes) → </a:t>
            </a:r>
            <a:r>
              <a:rPr lang="pt-BR" sz="2400" dirty="0" err="1">
                <a:latin typeface="Aptos Display" panose="020B0004020202020204" pitchFamily="34" charset="0"/>
              </a:rPr>
              <a:t>Sink</a:t>
            </a:r>
            <a:endParaRPr lang="pt-BR" sz="2400" dirty="0">
              <a:latin typeface="Aptos Display" panose="020B0004020202020204" pitchFamily="34" charset="0"/>
            </a:endParaRPr>
          </a:p>
        </p:txBody>
      </p:sp>
      <p:pic>
        <p:nvPicPr>
          <p:cNvPr id="7" name="Imagem 6" descr="\documentclass{article}&#10;\usepackage{amsmath}&#10;\pagestyle{empty}&#10;\begin{document}&#10;&#10;\[&#10;\Omega = \left\{&#10;\text{todas as rotas viáveis do tipo } d \rightarrow \mathcal{C}_r \rightarrow s&#10;\;\middle|\;&#10;d \in \mathcal{D}&#10;\right\}.&#10;\]&#10;&#10;&#10;&#10;\end{document}" title="IguanaTex Bitmap Display">
            <a:extLst>
              <a:ext uri="{FF2B5EF4-FFF2-40B4-BE49-F238E27FC236}">
                <a16:creationId xmlns:a16="http://schemas.microsoft.com/office/drawing/2014/main" id="{08DB313D-A24E-BBD0-06AD-C6A7A11CC3F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26849" y="3590570"/>
            <a:ext cx="8938302" cy="359946"/>
          </a:xfrm>
          <a:prstGeom prst="rect">
            <a:avLst/>
          </a:prstGeom>
        </p:spPr>
      </p:pic>
      <p:pic>
        <p:nvPicPr>
          <p:cNvPr id="19" name="Imagem 18" descr="\documentclass{article}&#10;\usepackage{amsmath}&#10;\pagestyle{empty}&#10;\begin{document}&#10;\noindent&#10;onde cada:&#10;\\ rota $r \in \Omega$ inicia em $d \in \mathcal{D}$,&#10;visita um subconjunto $\mathcal{C}_r \subseteq \mathcal{C}$,&#10;termina em $s$ e satisfaz $|\mathcal{C}_r| \le Q$.&#10;&#10;&#10;&#10;\end{document}" title="IguanaTex Bitmap Display">
            <a:extLst>
              <a:ext uri="{FF2B5EF4-FFF2-40B4-BE49-F238E27FC236}">
                <a16:creationId xmlns:a16="http://schemas.microsoft.com/office/drawing/2014/main" id="{F930475B-4047-70EB-9465-AE2F380411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09784" y="4414750"/>
            <a:ext cx="9829884" cy="954107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84363C96-6C0D-DDE6-4A5D-F2C22A107CD5}"/>
              </a:ext>
            </a:extLst>
          </p:cNvPr>
          <p:cNvSpPr txBox="1"/>
          <p:nvPr/>
        </p:nvSpPr>
        <p:spPr>
          <a:xfrm>
            <a:off x="1409784" y="2030995"/>
            <a:ext cx="9014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ptos Display" panose="020B0004020202020204" pitchFamily="34" charset="0"/>
              </a:rPr>
              <a:t>Decomposição de </a:t>
            </a:r>
            <a:r>
              <a:rPr lang="pt-BR" sz="2400" dirty="0" err="1">
                <a:latin typeface="Aptos Display" panose="020B0004020202020204" pitchFamily="34" charset="0"/>
              </a:rPr>
              <a:t>Dantzig</a:t>
            </a:r>
            <a:r>
              <a:rPr lang="pt-BR" sz="2400" dirty="0">
                <a:latin typeface="Aptos Display" panose="020B0004020202020204" pitchFamily="34" charset="0"/>
              </a:rPr>
              <a:t>–Wolfe / Set </a:t>
            </a:r>
            <a:r>
              <a:rPr lang="pt-BR" sz="2400" dirty="0" err="1">
                <a:latin typeface="Aptos Display" panose="020B0004020202020204" pitchFamily="34" charset="0"/>
              </a:rPr>
              <a:t>Partitioning</a:t>
            </a:r>
            <a:endParaRPr lang="pt-BR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57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1F73-CAA3-939F-45F5-63A5B6A4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E123996F-8D6B-6654-3B73-FC3C25FB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0" y="304800"/>
            <a:ext cx="8290560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br>
              <a:rPr lang="pt-BR" dirty="0">
                <a:latin typeface="Aptos Black" panose="020B0004020202020204" pitchFamily="34" charset="0"/>
              </a:rPr>
            </a:br>
            <a:r>
              <a:rPr lang="pt-BR" dirty="0">
                <a:latin typeface="Aptos Black" panose="020B0004020202020204" pitchFamily="34" charset="0"/>
              </a:rPr>
              <a:t>Variáveis do Mestre (Set </a:t>
            </a:r>
            <a:r>
              <a:rPr lang="pt-BR" dirty="0" err="1">
                <a:latin typeface="Aptos Black" panose="020B0004020202020204" pitchFamily="34" charset="0"/>
              </a:rPr>
              <a:t>Partitioning</a:t>
            </a:r>
            <a:r>
              <a:rPr lang="pt-BR" dirty="0">
                <a:latin typeface="Aptos Black" panose="020B0004020202020204" pitchFamily="34" charset="0"/>
              </a:rPr>
              <a:t>)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DD7CB96-4750-BC3B-10F2-30018D0EC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6</a:t>
            </a:fld>
            <a:endParaRPr lang="pt-BR"/>
          </a:p>
        </p:txBody>
      </p:sp>
      <p:pic>
        <p:nvPicPr>
          <p:cNvPr id="11" name="Imagem 10" descr="\documentclass{article}&#10;\usepackage{amsmath}&#10;\pagestyle{empty}&#10;\begin{document}&#10;&#10;\noindent&#10;Para cada rota $r \in \Omega$, define-se&#10;\[&#10;\lambda_r \in \{0,1\},&#10;\]&#10;onde $\lambda_r = 1$ se a rota $r$ é selecionada.&#10;&#10;\noindent&#10;Além disso,&#10;$a_{ir} = 1$ se o cliente $i$ pertence à rota $r$,&#10;\\ e $0$ caso contrário,&#10;e $c_r$ denota o custo total da rota $r$.&#10;&#10;&#10;\end{document}" title="IguanaTex Bitmap Display">
            <a:extLst>
              <a:ext uri="{FF2B5EF4-FFF2-40B4-BE49-F238E27FC236}">
                <a16:creationId xmlns:a16="http://schemas.microsoft.com/office/drawing/2014/main" id="{14E834A0-6541-3671-BD21-24DCDC0E3B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b="79132"/>
          <a:stretch>
            <a:fillRect/>
          </a:stretch>
        </p:blipFill>
        <p:spPr>
          <a:xfrm>
            <a:off x="1800493" y="2224321"/>
            <a:ext cx="9096107" cy="619945"/>
          </a:xfrm>
          <a:prstGeom prst="rect">
            <a:avLst/>
          </a:prstGeom>
        </p:spPr>
      </p:pic>
      <p:pic>
        <p:nvPicPr>
          <p:cNvPr id="13" name="Imagem 12" descr="\documentclass{article}&#10;\usepackage{amsmath}&#10;\pagestyle{empty}&#10;\begin{document}&#10;&#10;\noindent&#10;Para cada rota $r \in \Omega$, define-se&#10;\[&#10;\lambda_r \in \{0,1\},&#10;\]&#10;onde $\lambda_r = 1$ se a rota $r$ é selecionada.&#10;&#10;\noindent&#10;Além disso,&#10;$a_{ir} = 1$ se o cliente $i$ pertence à rota $r$,&#10;\\ e $0$ caso contrário,&#10;e $c_r$ denota o custo total da rota $r$.&#10;&#10;&#10;\end{document}" title="IguanaTex Bitmap Display">
            <a:extLst>
              <a:ext uri="{FF2B5EF4-FFF2-40B4-BE49-F238E27FC236}">
                <a16:creationId xmlns:a16="http://schemas.microsoft.com/office/drawing/2014/main" id="{461C778C-04C0-AC72-66A9-2A9E996C6ED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t="69593" b="-1"/>
          <a:stretch>
            <a:fillRect/>
          </a:stretch>
        </p:blipFill>
        <p:spPr>
          <a:xfrm>
            <a:off x="1797517" y="4806656"/>
            <a:ext cx="8809549" cy="874897"/>
          </a:xfrm>
          <a:prstGeom prst="rect">
            <a:avLst/>
          </a:prstGeom>
        </p:spPr>
      </p:pic>
      <p:pic>
        <p:nvPicPr>
          <p:cNvPr id="15" name="Imagem 14" descr="\documentclass{article}&#10;\usepackage{amsmath}&#10;\pagestyle{empty}&#10;\begin{document}&#10;&#10;\[&#10;\lambda_r =&#10;\begin{cases}&#10;1, &amp; \text{se a rota } r \text{ é selecionada}, \\&#10;0, &amp; \text{caso contrário}.&#10;\end{cases}&#10;\]&#10;&#10;&#10;&#10;\end{document}" title="IguanaTex Bitmap Display">
            <a:extLst>
              <a:ext uri="{FF2B5EF4-FFF2-40B4-BE49-F238E27FC236}">
                <a16:creationId xmlns:a16="http://schemas.microsoft.com/office/drawing/2014/main" id="{1FE3FA17-8042-5C01-7610-3FD37ED984C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19685" y="3128045"/>
            <a:ext cx="6796505" cy="129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9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3D4F-8B6C-BDF9-A6D7-BD4E6848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FA2F0CE-F847-4346-573D-CAC69F71C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7</a:t>
            </a:fld>
            <a:endParaRPr lang="pt-BR"/>
          </a:p>
        </p:txBody>
      </p:sp>
      <p:pic>
        <p:nvPicPr>
          <p:cNvPr id="5" name="Imagem 4" descr="\documentclass{article}&#10;\usepackage{amsmath}&#10;\pagestyle{empty}&#10;\begin{document}&#10;&#10;\paragraph{Implementação.}&#10;A restrição é escrita como&#10;\[&#10;\sum_{r \in \Omega} \lambda_r + s = K,&#10;\qquad s \ge 0,&#10;\]&#10;de modo a facilitar a obtenção do problema dual no RMP relaxado.&#10;&#10;&#10;&#10;\end{document}" title="IguanaTex Bitmap Display">
            <a:extLst>
              <a:ext uri="{FF2B5EF4-FFF2-40B4-BE49-F238E27FC236}">
                <a16:creationId xmlns:a16="http://schemas.microsoft.com/office/drawing/2014/main" id="{B63A1084-F573-5D6C-E3BF-7ECE679FA7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02477" y="1487837"/>
            <a:ext cx="10077140" cy="218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9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D9A5-F4B1-8451-0896-1C25CD59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B1903A6-01B5-334E-B23F-16CDE236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97" y="208547"/>
            <a:ext cx="4955406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Restrições do Mestre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253FF1D-D6AC-48C0-3F2C-16E3528BF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8</a:t>
            </a:fld>
            <a:endParaRPr lang="pt-BR"/>
          </a:p>
        </p:txBody>
      </p:sp>
      <p:pic>
        <p:nvPicPr>
          <p:cNvPr id="3" name="Imagem 2" descr="\documentclass{article}&#10;\usepackage{amsmath}&#10;\pagestyle{empty}&#10;\begin{document}&#10;&#10;\textbf{Cobertura dos clientes}&#10;\[&#10;\sum_{r \in \Omega} a_{ir}\,\lambda_r = 1&#10;\qquad \forall i \in \mathcal{C}.&#10;\]&#10;&#10;&#10;&#10;\end{document}" title="IguanaTex Bitmap Display">
            <a:extLst>
              <a:ext uri="{FF2B5EF4-FFF2-40B4-BE49-F238E27FC236}">
                <a16:creationId xmlns:a16="http://schemas.microsoft.com/office/drawing/2014/main" id="{DB041856-F37E-477B-3785-0834D4CA5F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90391" y="2094832"/>
            <a:ext cx="6783312" cy="1334168"/>
          </a:xfrm>
          <a:prstGeom prst="rect">
            <a:avLst/>
          </a:prstGeom>
        </p:spPr>
      </p:pic>
      <p:pic>
        <p:nvPicPr>
          <p:cNvPr id="6" name="Imagem 5" descr="\documentclass{article}&#10;\usepackage{amsmath}&#10;\pagestyle{empty}&#10;\begin{document}&#10;&#10;\textbf{Limite de frota}&#10;\[&#10;\sum_{r \in \Omega} \lambda_r \le K.&#10;\]&#10;&#10;&#10;&#10;\end{document}" title="IguanaTex Bitmap Display">
            <a:extLst>
              <a:ext uri="{FF2B5EF4-FFF2-40B4-BE49-F238E27FC236}">
                <a16:creationId xmlns:a16="http://schemas.microsoft.com/office/drawing/2014/main" id="{8D892C77-C468-C336-F19D-60C5D090F8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90391" y="4248484"/>
            <a:ext cx="6180085" cy="1066801"/>
          </a:xfrm>
          <a:prstGeom prst="rect">
            <a:avLst/>
          </a:prstGeom>
        </p:spPr>
      </p:pic>
      <p:pic>
        <p:nvPicPr>
          <p:cNvPr id="7" name="Imagem 6" descr="\documentclass{article}&#10;\usepackage{amsmath}&#10;\pagestyle{empty}&#10;\begin{document}&#10;&#10;&#10;\[&#10;\lambda_r \in \{0,1\}&#10;\qquad \forall r \in \Omega.&#10;\]&#10;&#10;&#10;\end{document}" title="IguanaTex Bitmap Display">
            <a:extLst>
              <a:ext uri="{FF2B5EF4-FFF2-40B4-BE49-F238E27FC236}">
                <a16:creationId xmlns:a16="http://schemas.microsoft.com/office/drawing/2014/main" id="{1DDC5793-0F92-842C-9CCA-69BAD9351C8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182047" y="5666431"/>
            <a:ext cx="3088995" cy="31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5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0EFE-F6CB-D3B3-0B90-867AADD9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38425FF-8257-EC22-2FC3-44B16764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138" y="208547"/>
            <a:ext cx="6295724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Função objetivo do Mestre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C104047-59F3-B300-2536-5AF2422FE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9</a:t>
            </a:fld>
            <a:endParaRPr lang="pt-BR"/>
          </a:p>
        </p:txBody>
      </p:sp>
      <p:pic>
        <p:nvPicPr>
          <p:cNvPr id="9" name="Imagem 8" descr="\documentclass{article}&#10;\usepackage{amsmath}&#10;\pagestyle{empty}&#10;\begin{document}&#10;&#10;\[&#10;\min \sum_{r \in \Omega} c_r \,\lambda_r.&#10;\]&#10;&#10;&#10;&#10;\end{document}" title="IguanaTex Bitmap Display">
            <a:extLst>
              <a:ext uri="{FF2B5EF4-FFF2-40B4-BE49-F238E27FC236}">
                <a16:creationId xmlns:a16="http://schemas.microsoft.com/office/drawing/2014/main" id="{FDB599D9-2C53-35A8-C5B7-173D0B3EF38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26440" y="2630988"/>
            <a:ext cx="3139119" cy="120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7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54F9-9F5D-38D4-562C-42473FE0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9E036A5E-810C-DB82-FB05-5524A22C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37" y="232611"/>
            <a:ext cx="8658725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Geração de Colunas (custo reduzido)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B2832B3-C7E5-39D1-B7A8-5F3F221ED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10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B0A3FB-EF20-7DF4-C448-483102A443CE}"/>
              </a:ext>
            </a:extLst>
          </p:cNvPr>
          <p:cNvSpPr txBox="1"/>
          <p:nvPr/>
        </p:nvSpPr>
        <p:spPr>
          <a:xfrm>
            <a:off x="1766637" y="1831226"/>
            <a:ext cx="9014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ptos Display" panose="020B0004020202020204" pitchFamily="34" charset="0"/>
              </a:rPr>
              <a:t>Após resolver o RMP (relaxado), obtemos duais:</a:t>
            </a:r>
          </a:p>
        </p:txBody>
      </p:sp>
      <p:pic>
        <p:nvPicPr>
          <p:cNvPr id="11" name="Imagem 10" descr="\documentclass{article}&#10;\usepackage{amsmath}&#10;\pagestyle{empty}&#10;\begin{document}&#10;&#10;\[&#10;\pi_i \quad \text{: dual da restrição de cobertura do cliente } i \in \mathcal{C},&#10;\]&#10;&#10;&#10;\end{document}" title="IguanaTex Bitmap Display">
            <a:extLst>
              <a:ext uri="{FF2B5EF4-FFF2-40B4-BE49-F238E27FC236}">
                <a16:creationId xmlns:a16="http://schemas.microsoft.com/office/drawing/2014/main" id="{9B140A0E-C082-60C8-627A-A6F988FB81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78643" y="2463828"/>
            <a:ext cx="6213797" cy="245431"/>
          </a:xfrm>
          <a:prstGeom prst="rect">
            <a:avLst/>
          </a:prstGeom>
        </p:spPr>
      </p:pic>
      <p:pic>
        <p:nvPicPr>
          <p:cNvPr id="13" name="Imagem 12" descr="\documentclass{article}&#10;\usepackage{amsmath}&#10;\pagestyle{empty}&#10;\begin{document}&#10;&#10;\[&#10;\pi_{\text{fleet}} \quad \text{: dual da restrição de limite de frota}.&#10;\]&#10;&#10;&#10;&#10;\end{document}" title="IguanaTex Bitmap Display">
            <a:extLst>
              <a:ext uri="{FF2B5EF4-FFF2-40B4-BE49-F238E27FC236}">
                <a16:creationId xmlns:a16="http://schemas.microsoft.com/office/drawing/2014/main" id="{B7953E37-B766-715D-CC5D-962919E1D1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78643" y="3055128"/>
            <a:ext cx="5193065" cy="245431"/>
          </a:xfrm>
          <a:prstGeom prst="rect">
            <a:avLst/>
          </a:prstGeom>
        </p:spPr>
      </p:pic>
      <p:pic>
        <p:nvPicPr>
          <p:cNvPr id="15" name="Imagem 14" descr="\documentclass{article}&#10;\usepackage{amsmath}&#10;\pagestyle{empty}&#10;\begin{document}&#10;&#10;\[&#10;\bar{c}_r = c_r - \sum_{i \in \mathcal{C}} \pi_i a_{ir} - \pi_{\text{fleet}},&#10;\qquad&#10;\bar{c}_r &lt; 0 \Rightarrow \text{nova coluna.}&#10;\]&#10;&#10;&#10;&#10;\end{document}" title="IguanaTex Bitmap Display">
            <a:extLst>
              <a:ext uri="{FF2B5EF4-FFF2-40B4-BE49-F238E27FC236}">
                <a16:creationId xmlns:a16="http://schemas.microsoft.com/office/drawing/2014/main" id="{E84971E8-BB96-3078-8BBC-9A9A2BBC979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171829" y="4582997"/>
            <a:ext cx="7848339" cy="73660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0395FEB-BFBB-DE24-D1DD-2EDECAF5D0D5}"/>
              </a:ext>
            </a:extLst>
          </p:cNvPr>
          <p:cNvSpPr txBox="1"/>
          <p:nvPr/>
        </p:nvSpPr>
        <p:spPr>
          <a:xfrm>
            <a:off x="1766637" y="3599446"/>
            <a:ext cx="9014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ptos Display" panose="020B0004020202020204" pitchFamily="34" charset="0"/>
              </a:rPr>
              <a:t>O custo reduzido de uma rota 𝑟 é:</a:t>
            </a:r>
          </a:p>
        </p:txBody>
      </p:sp>
    </p:spTree>
    <p:extLst>
      <p:ext uri="{BB962C8B-B14F-4D97-AF65-F5344CB8AC3E}">
        <p14:creationId xmlns:p14="http://schemas.microsoft.com/office/powerpoint/2010/main" val="391794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60BC-47C1-4E6E-896D-E5FFB0D9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CDB34A0-7389-5563-919A-7E26AE87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785" y="275071"/>
            <a:ext cx="7682163" cy="1919521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 err="1"/>
              <a:t>Pricing</a:t>
            </a:r>
            <a:r>
              <a:rPr lang="pt-BR" dirty="0"/>
              <a:t> </a:t>
            </a:r>
            <a:r>
              <a:rPr lang="pt-BR" dirty="0" err="1"/>
              <a:t>Problem</a:t>
            </a:r>
            <a:r>
              <a:rPr lang="pt-BR" dirty="0"/>
              <a:t> (subproblema)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F53C00F-396E-2B5E-390C-29116A73B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11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A7C8E9-4072-3FDE-3596-079A9BF7248E}"/>
              </a:ext>
            </a:extLst>
          </p:cNvPr>
          <p:cNvSpPr txBox="1"/>
          <p:nvPr/>
        </p:nvSpPr>
        <p:spPr>
          <a:xfrm>
            <a:off x="1766636" y="2334146"/>
            <a:ext cx="901446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ptos Display" panose="020B0004020202020204" pitchFamily="34" charset="0"/>
              </a:rPr>
              <a:t>Objetivo: encontrar uma nova rota </a:t>
            </a:r>
            <a:r>
              <a:rPr lang="pt-BR" sz="2400" dirty="0" err="1">
                <a:latin typeface="Aptos Display" panose="020B0004020202020204" pitchFamily="34" charset="0"/>
              </a:rPr>
              <a:t>depot</a:t>
            </a:r>
            <a:r>
              <a:rPr lang="pt-BR" sz="2400" dirty="0">
                <a:latin typeface="Aptos Display" panose="020B0004020202020204" pitchFamily="34" charset="0"/>
              </a:rPr>
              <a:t> → … → </a:t>
            </a:r>
            <a:r>
              <a:rPr lang="pt-BR" sz="2400" dirty="0" err="1">
                <a:latin typeface="Aptos Display" panose="020B0004020202020204" pitchFamily="34" charset="0"/>
              </a:rPr>
              <a:t>sink</a:t>
            </a:r>
            <a:r>
              <a:rPr lang="pt-BR" sz="2400" dirty="0">
                <a:latin typeface="Aptos Display" panose="020B0004020202020204" pitchFamily="34" charset="0"/>
              </a:rPr>
              <a:t> com custo reduzido negativo.</a:t>
            </a:r>
          </a:p>
          <a:p>
            <a:endParaRPr lang="pt-BR" sz="2400" dirty="0">
              <a:latin typeface="Aptos Display" panose="020B0004020202020204" pitchFamily="34" charset="0"/>
            </a:endParaRPr>
          </a:p>
          <a:p>
            <a:r>
              <a:rPr lang="pt-BR" sz="2400" dirty="0">
                <a:latin typeface="Aptos Display" panose="020B0004020202020204" pitchFamily="34" charset="0"/>
              </a:rPr>
              <a:t>No código, o </a:t>
            </a:r>
            <a:r>
              <a:rPr lang="pt-BR" sz="2400" dirty="0" err="1">
                <a:latin typeface="Aptos Display" panose="020B0004020202020204" pitchFamily="34" charset="0"/>
              </a:rPr>
              <a:t>pricing</a:t>
            </a:r>
            <a:r>
              <a:rPr lang="pt-BR" sz="2400" dirty="0">
                <a:latin typeface="Aptos Display" panose="020B0004020202020204" pitchFamily="34" charset="0"/>
              </a:rPr>
              <a:t> é resolvido de duas formas:</a:t>
            </a:r>
          </a:p>
          <a:p>
            <a:endParaRPr lang="pt-BR" sz="2400" dirty="0">
              <a:latin typeface="Aptos Display" panose="020B00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 err="1">
                <a:latin typeface="Aptos Display" panose="020B0004020202020204" pitchFamily="34" charset="0"/>
              </a:rPr>
              <a:t>Pricing</a:t>
            </a:r>
            <a:r>
              <a:rPr lang="pt-BR" sz="2200" dirty="0">
                <a:latin typeface="Aptos Display" panose="020B0004020202020204" pitchFamily="34" charset="0"/>
              </a:rPr>
              <a:t> heurístico (rápido): construção incremental + 2-opt aberto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>
              <a:latin typeface="Aptos Display" panose="020B00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 err="1">
                <a:latin typeface="Aptos Display" panose="020B0004020202020204" pitchFamily="34" charset="0"/>
              </a:rPr>
              <a:t>Pricing</a:t>
            </a:r>
            <a:r>
              <a:rPr lang="pt-BR" sz="2200" dirty="0">
                <a:latin typeface="Aptos Display" panose="020B0004020202020204" pitchFamily="34" charset="0"/>
              </a:rPr>
              <a:t> exato (MIP / </a:t>
            </a:r>
            <a:r>
              <a:rPr lang="pt-BR" sz="2200" dirty="0" err="1">
                <a:latin typeface="Aptos Display" panose="020B0004020202020204" pitchFamily="34" charset="0"/>
              </a:rPr>
              <a:t>Pyomo</a:t>
            </a:r>
            <a:r>
              <a:rPr lang="pt-BR" sz="2200" dirty="0">
                <a:latin typeface="Aptos Display" panose="020B0004020202020204" pitchFamily="34" charset="0"/>
              </a:rPr>
              <a:t>): garante coluna negativa quando existir</a:t>
            </a:r>
          </a:p>
        </p:txBody>
      </p:sp>
    </p:spTree>
    <p:extLst>
      <p:ext uri="{BB962C8B-B14F-4D97-AF65-F5344CB8AC3E}">
        <p14:creationId xmlns:p14="http://schemas.microsoft.com/office/powerpoint/2010/main" val="15377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71E4-4CC9-FAD2-C64F-8B0E4DD1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12724E2-CDB5-7FC8-9C9D-FB87D222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628" y="365318"/>
            <a:ext cx="4320743" cy="67144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Branch-</a:t>
            </a:r>
            <a:r>
              <a:rPr lang="pt-BR" dirty="0" err="1"/>
              <a:t>and</a:t>
            </a:r>
            <a:r>
              <a:rPr lang="pt-BR" dirty="0"/>
              <a:t>-</a:t>
            </a:r>
            <a:r>
              <a:rPr lang="pt-BR" dirty="0" err="1"/>
              <a:t>Price</a:t>
            </a:r>
            <a:r>
              <a:rPr lang="pt-BR" dirty="0"/>
              <a:t> 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F739DA1-5102-2907-0705-9DC9B9A16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12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E6E690-B462-110F-C624-EFC6E157CB92}"/>
              </a:ext>
            </a:extLst>
          </p:cNvPr>
          <p:cNvSpPr txBox="1"/>
          <p:nvPr/>
        </p:nvSpPr>
        <p:spPr>
          <a:xfrm>
            <a:off x="1703573" y="1339816"/>
            <a:ext cx="90144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Aptos Display" panose="020B0004020202020204" pitchFamily="34" charset="0"/>
              </a:rPr>
              <a:t>Warm</a:t>
            </a:r>
            <a:r>
              <a:rPr lang="pt-BR" sz="2400" dirty="0">
                <a:latin typeface="Aptos Display" panose="020B0004020202020204" pitchFamily="34" charset="0"/>
              </a:rPr>
              <a:t> start GRASP com: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971550" lvl="1" indent="-514350">
              <a:buFont typeface="+mj-lt"/>
              <a:buAutoNum type="romanUcPeriod"/>
            </a:pPr>
            <a:r>
              <a:rPr lang="pt-BR" sz="2400" dirty="0">
                <a:latin typeface="Aptos Display" panose="020B0004020202020204" pitchFamily="34" charset="0"/>
              </a:rPr>
              <a:t>lista restrita por distância (RCL) controlada por alpha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400" dirty="0">
                <a:latin typeface="Aptos Display" panose="020B0004020202020204" pitchFamily="34" charset="0"/>
              </a:rPr>
              <a:t>2-opt aberto mantendo </a:t>
            </a:r>
            <a:r>
              <a:rPr lang="pt-BR" sz="2400" dirty="0" err="1">
                <a:latin typeface="Aptos Display" panose="020B0004020202020204" pitchFamily="34" charset="0"/>
              </a:rPr>
              <a:t>depot</a:t>
            </a:r>
            <a:r>
              <a:rPr lang="pt-BR" sz="2400" dirty="0">
                <a:latin typeface="Aptos Display" panose="020B0004020202020204" pitchFamily="34" charset="0"/>
              </a:rPr>
              <a:t> e </a:t>
            </a:r>
            <a:r>
              <a:rPr lang="pt-BR" sz="2400" dirty="0" err="1">
                <a:latin typeface="Aptos Display" panose="020B0004020202020204" pitchFamily="34" charset="0"/>
              </a:rPr>
              <a:t>sink</a:t>
            </a:r>
            <a:r>
              <a:rPr lang="pt-BR" sz="2400" dirty="0">
                <a:latin typeface="Aptos Display" panose="020B0004020202020204" pitchFamily="34" charset="0"/>
              </a:rPr>
              <a:t> fixos</a:t>
            </a:r>
          </a:p>
          <a:p>
            <a:pPr marL="971550" lvl="1" indent="-514350">
              <a:buFont typeface="+mj-lt"/>
              <a:buAutoNum type="romanUcPeriod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Estabilização de duais (dual </a:t>
            </a:r>
            <a:r>
              <a:rPr lang="pt-BR" sz="2400" dirty="0" err="1">
                <a:latin typeface="Aptos Display" panose="020B0004020202020204" pitchFamily="34" charset="0"/>
              </a:rPr>
              <a:t>smoothing</a:t>
            </a:r>
            <a:r>
              <a:rPr lang="pt-BR" sz="2400" dirty="0">
                <a:latin typeface="Aptos Display" panose="020B0004020202020204" pitchFamily="34" charset="0"/>
              </a:rPr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971550" lvl="1" indent="-514350">
              <a:buFont typeface="+mj-lt"/>
              <a:buAutoNum type="romanUcPeriod"/>
            </a:pPr>
            <a:r>
              <a:rPr lang="pt-BR" sz="2400" dirty="0">
                <a:latin typeface="Aptos Display" panose="020B0004020202020204" pitchFamily="34" charset="0"/>
              </a:rPr>
              <a:t>	</a:t>
            </a:r>
          </a:p>
          <a:p>
            <a:pPr lvl="1"/>
            <a:endParaRPr lang="pt-BR" sz="2400" dirty="0">
              <a:latin typeface="Aptos Display" panose="020B0004020202020204" pitchFamily="34" charset="0"/>
            </a:endParaRPr>
          </a:p>
        </p:txBody>
      </p:sp>
      <p:pic>
        <p:nvPicPr>
          <p:cNvPr id="7" name="Imagem 6" descr="\documentclass{article}&#10;\usepackage{amsmath}&#10;\pagestyle{empty}&#10;\begin{document}&#10;&#10;\[&#10;\pi^{\text{stab}}&#10;=&#10;\alpha\,\pi^{\text{curr}}&#10;+&#10;(1-\alpha)\,\pi^{\text{stab}}.&#10;\]&#10;&#10;&#10;&#10;\end{document}" title="IguanaTex Bitmap Display">
            <a:extLst>
              <a:ext uri="{FF2B5EF4-FFF2-40B4-BE49-F238E27FC236}">
                <a16:creationId xmlns:a16="http://schemas.microsoft.com/office/drawing/2014/main" id="{73966A1B-ABDA-DCE4-9C3F-E1F169193E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75058" y="3923365"/>
            <a:ext cx="3999086" cy="3510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07F3ED5-00FE-4AFB-36F1-85BF3C9107BA}"/>
              </a:ext>
            </a:extLst>
          </p:cNvPr>
          <p:cNvSpPr txBox="1"/>
          <p:nvPr/>
        </p:nvSpPr>
        <p:spPr>
          <a:xfrm>
            <a:off x="1703573" y="4549676"/>
            <a:ext cx="90144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Aptos Display" panose="020B0004020202020204" pitchFamily="34" charset="0"/>
              </a:rPr>
              <a:t>Branching</a:t>
            </a:r>
            <a:r>
              <a:rPr lang="pt-BR" sz="2400" dirty="0">
                <a:latin typeface="Aptos Display" panose="020B00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971550" lvl="1" indent="-514350">
              <a:buFont typeface="+mj-lt"/>
              <a:buAutoNum type="romanUcPeriod"/>
            </a:pPr>
            <a:r>
              <a:rPr lang="pt-BR" sz="2400" dirty="0">
                <a:latin typeface="Aptos Display" panose="020B0004020202020204" pitchFamily="34" charset="0"/>
              </a:rPr>
              <a:t>seleciona arco “mais fracionário” (~0.5) no agregado de arcos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400" dirty="0">
                <a:latin typeface="Aptos Display" panose="020B0004020202020204" pitchFamily="34" charset="0"/>
              </a:rPr>
              <a:t>cria dois filhos: proibir </a:t>
            </a:r>
            <a:r>
              <a:rPr lang="pt-BR" sz="2400" dirty="0" err="1">
                <a:latin typeface="Aptos Display" panose="020B0004020202020204" pitchFamily="34" charset="0"/>
              </a:rPr>
              <a:t>vs</a:t>
            </a:r>
            <a:r>
              <a:rPr lang="pt-BR" sz="2400" dirty="0">
                <a:latin typeface="Aptos Display" panose="020B0004020202020204" pitchFamily="34" charset="0"/>
              </a:rPr>
              <a:t> forçar o arco</a:t>
            </a:r>
          </a:p>
          <a:p>
            <a:pPr lvl="1"/>
            <a:endParaRPr lang="pt-BR" sz="2400" dirty="0">
              <a:latin typeface="Aptos Display" panose="020B0004020202020204" pitchFamily="34" charset="0"/>
            </a:endParaRPr>
          </a:p>
          <a:p>
            <a:pPr lvl="1"/>
            <a:endParaRPr lang="pt-BR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2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C2AE1-8192-6357-888D-85AEDAEE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07B134E-9113-01AB-9BEC-117011FCC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278" y="168714"/>
            <a:ext cx="2677442" cy="67144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Resultados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FCB8CCD-3209-DADA-EF9A-8EEEAD47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13</a:t>
            </a:fld>
            <a:endParaRPr lang="pt-B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2B0E476-A858-6F91-A85F-DD8756D35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-488514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m 10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C4A6A94A-5484-32AD-C71B-3FC8DE35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94" y="989554"/>
            <a:ext cx="8257009" cy="524633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E5668E-D43F-4B0E-CB92-D281D4D0BACF}"/>
              </a:ext>
            </a:extLst>
          </p:cNvPr>
          <p:cNvSpPr txBox="1"/>
          <p:nvPr/>
        </p:nvSpPr>
        <p:spPr>
          <a:xfrm>
            <a:off x="2195852" y="6235885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de execução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pt-BR" dirty="0"/>
              <a:t>33 minutos e 32 segundos</a:t>
            </a:r>
          </a:p>
        </p:txBody>
      </p:sp>
    </p:spTree>
    <p:extLst>
      <p:ext uri="{BB962C8B-B14F-4D97-AF65-F5344CB8AC3E}">
        <p14:creationId xmlns:p14="http://schemas.microsoft.com/office/powerpoint/2010/main" val="1137123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FB38-0F5F-E88A-255F-30C74054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7725D178-127A-06FB-0035-6EF9CEF4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278" y="168714"/>
            <a:ext cx="2677442" cy="67144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latin typeface="Aptos Black" panose="020B0004020202020204" pitchFamily="34" charset="0"/>
              </a:rPr>
              <a:t>Resultados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478E2C1-E829-2A2C-19E9-1D75E1414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14</a:t>
            </a:fld>
            <a:endParaRPr lang="pt-B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ADD755A-28D6-9FBA-49E0-8C074B93C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-488514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98CAA5-90BD-CD10-CF13-5679EC2DF653}"/>
              </a:ext>
            </a:extLst>
          </p:cNvPr>
          <p:cNvSpPr txBox="1"/>
          <p:nvPr/>
        </p:nvSpPr>
        <p:spPr>
          <a:xfrm>
            <a:off x="2385085" y="6235885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de execução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pt-BR" dirty="0"/>
              <a:t>15 minutos e 2 segundos</a:t>
            </a:r>
          </a:p>
        </p:txBody>
      </p:sp>
      <p:pic>
        <p:nvPicPr>
          <p:cNvPr id="3" name="Imagem 2" descr="Uma imagem contendo Mapa&#10;&#10;O conteúdo gerado por IA pode estar incorreto.">
            <a:extLst>
              <a:ext uri="{FF2B5EF4-FFF2-40B4-BE49-F238E27FC236}">
                <a16:creationId xmlns:a16="http://schemas.microsoft.com/office/drawing/2014/main" id="{EF3FCA7A-C44C-0930-FD14-B0D9CF311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085" y="801764"/>
            <a:ext cx="7421828" cy="52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89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4286-DF50-7279-95D3-EC11FED0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A53DE77-9E77-6065-9B6A-F145E29D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554" y="393147"/>
            <a:ext cx="2510892" cy="671444"/>
          </a:xfrm>
        </p:spPr>
        <p:txBody>
          <a:bodyPr rtlCol="0" anchor="ctr">
            <a:normAutofit fontScale="90000"/>
          </a:bodyPr>
          <a:lstStyle>
            <a:defPPr>
              <a:defRPr lang="pt-BR"/>
            </a:defPPr>
          </a:lstStyle>
          <a:p>
            <a:r>
              <a:rPr lang="pt-BR" dirty="0"/>
              <a:t>Conclusão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BD7973F-A425-5BB2-84A6-5A1576ACA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15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560034-597E-29EB-0886-E16AD2CC4B16}"/>
              </a:ext>
            </a:extLst>
          </p:cNvPr>
          <p:cNvSpPr txBox="1"/>
          <p:nvPr/>
        </p:nvSpPr>
        <p:spPr>
          <a:xfrm>
            <a:off x="1276852" y="1876812"/>
            <a:ext cx="104427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O modelo resolve </a:t>
            </a:r>
            <a:r>
              <a:rPr lang="pt-BR" sz="2400" dirty="0" err="1">
                <a:latin typeface="Aptos Display" panose="020B0004020202020204" pitchFamily="34" charset="0"/>
              </a:rPr>
              <a:t>Multi-Depot</a:t>
            </a:r>
            <a:r>
              <a:rPr lang="pt-BR" sz="2400" dirty="0">
                <a:latin typeface="Aptos Display" panose="020B0004020202020204" pitchFamily="34" charset="0"/>
              </a:rPr>
              <a:t> → </a:t>
            </a:r>
            <a:r>
              <a:rPr lang="pt-BR" sz="2400" dirty="0" err="1">
                <a:latin typeface="Aptos Display" panose="020B0004020202020204" pitchFamily="34" charset="0"/>
              </a:rPr>
              <a:t>Sink</a:t>
            </a:r>
            <a:r>
              <a:rPr lang="pt-BR" sz="2400" dirty="0">
                <a:latin typeface="Aptos Display" panose="020B0004020202020204" pitchFamily="34" charset="0"/>
              </a:rPr>
              <a:t> via Set </a:t>
            </a:r>
            <a:r>
              <a:rPr lang="pt-BR" sz="2400" dirty="0" err="1">
                <a:latin typeface="Aptos Display" panose="020B0004020202020204" pitchFamily="34" charset="0"/>
              </a:rPr>
              <a:t>Partitioning</a:t>
            </a:r>
            <a:r>
              <a:rPr lang="pt-BR" sz="2400" dirty="0">
                <a:latin typeface="Aptos Display" panose="020B0004020202020204" pitchFamily="34" charset="0"/>
              </a:rPr>
              <a:t> + </a:t>
            </a:r>
            <a:r>
              <a:rPr lang="pt-BR" sz="2400" dirty="0" err="1">
                <a:latin typeface="Aptos Display" panose="020B0004020202020204" pitchFamily="34" charset="0"/>
              </a:rPr>
              <a:t>Column</a:t>
            </a:r>
            <a:r>
              <a:rPr lang="pt-BR" sz="2400" dirty="0">
                <a:latin typeface="Aptos Display" panose="020B0004020202020204" pitchFamily="34" charset="0"/>
              </a:rPr>
              <a:t>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O método combina:</a:t>
            </a:r>
          </a:p>
          <a:p>
            <a:pPr lvl="2"/>
            <a:r>
              <a:rPr lang="pt-BR" sz="2400" dirty="0">
                <a:latin typeface="Aptos Display" panose="020B0004020202020204" pitchFamily="34" charset="0"/>
              </a:rPr>
              <a:t>Heurística (GRASP + </a:t>
            </a:r>
            <a:r>
              <a:rPr lang="pt-BR" sz="2400" dirty="0" err="1">
                <a:latin typeface="Aptos Display" panose="020B0004020202020204" pitchFamily="34" charset="0"/>
              </a:rPr>
              <a:t>pricing</a:t>
            </a:r>
            <a:r>
              <a:rPr lang="pt-BR" sz="2400" dirty="0">
                <a:latin typeface="Aptos Display" panose="020B0004020202020204" pitchFamily="34" charset="0"/>
              </a:rPr>
              <a:t> heurístico) para acelerar;</a:t>
            </a:r>
          </a:p>
          <a:p>
            <a:pPr lvl="2"/>
            <a:r>
              <a:rPr lang="pt-BR" sz="2400" dirty="0">
                <a:latin typeface="Aptos Display" panose="020B0004020202020204" pitchFamily="34" charset="0"/>
              </a:rPr>
              <a:t>Exato (</a:t>
            </a:r>
            <a:r>
              <a:rPr lang="pt-BR" sz="2400" dirty="0" err="1">
                <a:latin typeface="Aptos Display" panose="020B0004020202020204" pitchFamily="34" charset="0"/>
              </a:rPr>
              <a:t>pricing</a:t>
            </a:r>
            <a:r>
              <a:rPr lang="pt-BR" sz="2400" dirty="0">
                <a:latin typeface="Aptos Display" panose="020B0004020202020204" pitchFamily="34" charset="0"/>
              </a:rPr>
              <a:t> MIP) para buscar colunas negativas com garantia;</a:t>
            </a:r>
          </a:p>
          <a:p>
            <a:pPr lvl="2"/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A abordagem é flexível:</a:t>
            </a:r>
          </a:p>
          <a:p>
            <a:pPr lvl="2"/>
            <a:r>
              <a:rPr lang="pt-BR" sz="2400" dirty="0">
                <a:latin typeface="Aptos Display" panose="020B0004020202020204" pitchFamily="34" charset="0"/>
              </a:rPr>
              <a:t>funciona em instância sintética (didática) e também em instância real (rede viária) </a:t>
            </a:r>
          </a:p>
        </p:txBody>
      </p:sp>
    </p:spTree>
    <p:extLst>
      <p:ext uri="{BB962C8B-B14F-4D97-AF65-F5344CB8AC3E}">
        <p14:creationId xmlns:p14="http://schemas.microsoft.com/office/powerpoint/2010/main" val="2167335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4F1B-B77E-C969-FDF4-7CF8368C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4F6EF09-EB10-F120-605E-40A5C04AF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16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58F5FD0-BD67-DE80-E9B6-7ADD7A3DDED8}"/>
              </a:ext>
            </a:extLst>
          </p:cNvPr>
          <p:cNvSpPr txBox="1"/>
          <p:nvPr/>
        </p:nvSpPr>
        <p:spPr>
          <a:xfrm>
            <a:off x="1749293" y="655991"/>
            <a:ext cx="10442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Branch-</a:t>
            </a:r>
            <a:r>
              <a:rPr lang="pt-BR" sz="2400" dirty="0" err="1">
                <a:latin typeface="Aptos Display" panose="020B0004020202020204" pitchFamily="34" charset="0"/>
              </a:rPr>
              <a:t>and</a:t>
            </a:r>
            <a:r>
              <a:rPr lang="pt-BR" sz="2400" dirty="0">
                <a:latin typeface="Aptos Display" panose="020B0004020202020204" pitchFamily="34" charset="0"/>
              </a:rPr>
              <a:t>-</a:t>
            </a:r>
            <a:r>
              <a:rPr lang="pt-BR" sz="2400" dirty="0" err="1">
                <a:latin typeface="Aptos Display" panose="020B0004020202020204" pitchFamily="34" charset="0"/>
              </a:rPr>
              <a:t>Price</a:t>
            </a:r>
            <a:r>
              <a:rPr lang="pt-BR" sz="2400" dirty="0">
                <a:latin typeface="Aptos Display" panose="020B0004020202020204" pitchFamily="34" charset="0"/>
              </a:rPr>
              <a:t> tem custo computacional alto conforme n aumenta.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Aptos Display" panose="020B0004020202020204" pitchFamily="34" charset="0"/>
              </a:rPr>
              <a:t>Pricing</a:t>
            </a:r>
            <a:r>
              <a:rPr lang="pt-BR" sz="2400" dirty="0">
                <a:latin typeface="Aptos Display" panose="020B0004020202020204" pitchFamily="34" charset="0"/>
              </a:rPr>
              <a:t> exato (MIP) Torna a execução muito pesada.</a:t>
            </a:r>
          </a:p>
        </p:txBody>
      </p:sp>
      <p:sp>
        <p:nvSpPr>
          <p:cNvPr id="5" name="Título 7">
            <a:extLst>
              <a:ext uri="{FF2B5EF4-FFF2-40B4-BE49-F238E27FC236}">
                <a16:creationId xmlns:a16="http://schemas.microsoft.com/office/drawing/2014/main" id="{FE0FBCB0-9650-E36C-748F-3B6B4B2EE480}"/>
              </a:ext>
            </a:extLst>
          </p:cNvPr>
          <p:cNvSpPr txBox="1">
            <a:spLocks/>
          </p:cNvSpPr>
          <p:nvPr/>
        </p:nvSpPr>
        <p:spPr>
          <a:xfrm>
            <a:off x="4081437" y="2388224"/>
            <a:ext cx="4029126" cy="671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Melhorias possíveis </a:t>
            </a:r>
            <a:endParaRPr lang="pt-BR" dirty="0">
              <a:latin typeface="Aptos Black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7D8DFB-D1DA-00D7-AB82-0683BB3BF77A}"/>
              </a:ext>
            </a:extLst>
          </p:cNvPr>
          <p:cNvSpPr txBox="1"/>
          <p:nvPr/>
        </p:nvSpPr>
        <p:spPr>
          <a:xfrm>
            <a:off x="1749293" y="3591572"/>
            <a:ext cx="9083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Cortes válidos no mestre (</a:t>
            </a:r>
            <a:r>
              <a:rPr lang="pt-BR" sz="2400" dirty="0" err="1">
                <a:latin typeface="Aptos Display" panose="020B0004020202020204" pitchFamily="34" charset="0"/>
              </a:rPr>
              <a:t>cut</a:t>
            </a:r>
            <a:r>
              <a:rPr lang="pt-BR" sz="2400" dirty="0">
                <a:latin typeface="Aptos Display" panose="020B0004020202020204" pitchFamily="34" charset="0"/>
              </a:rPr>
              <a:t> </a:t>
            </a:r>
            <a:r>
              <a:rPr lang="pt-BR" sz="2400" dirty="0" err="1">
                <a:latin typeface="Aptos Display" panose="020B0004020202020204" pitchFamily="34" charset="0"/>
              </a:rPr>
              <a:t>generation</a:t>
            </a:r>
            <a:r>
              <a:rPr lang="pt-BR" sz="2400" dirty="0">
                <a:latin typeface="Aptos Display" panose="020B00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Estratégias melhores de </a:t>
            </a:r>
            <a:r>
              <a:rPr lang="pt-BR" sz="2400" dirty="0" err="1">
                <a:latin typeface="Aptos Display" panose="020B0004020202020204" pitchFamily="34" charset="0"/>
              </a:rPr>
              <a:t>branching</a:t>
            </a:r>
            <a:r>
              <a:rPr lang="pt-BR" sz="2400" dirty="0">
                <a:latin typeface="Aptos Display" panose="020B0004020202020204" pitchFamily="34" charset="0"/>
              </a:rPr>
              <a:t> (</a:t>
            </a:r>
            <a:r>
              <a:rPr lang="pt-BR" sz="2400" dirty="0" err="1">
                <a:latin typeface="Aptos Display" panose="020B0004020202020204" pitchFamily="34" charset="0"/>
              </a:rPr>
              <a:t>branching</a:t>
            </a:r>
            <a:r>
              <a:rPr lang="pt-BR" sz="2400" dirty="0">
                <a:latin typeface="Aptos Display" panose="020B0004020202020204" pitchFamily="34" charset="0"/>
              </a:rPr>
              <a:t> em clientes/rotas)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ptos Display" panose="020B0004020202020204" pitchFamily="34" charset="0"/>
              </a:rPr>
              <a:t>Heurísticas de recuperação de solução inteira durante o B&amp;P</a:t>
            </a:r>
          </a:p>
        </p:txBody>
      </p:sp>
    </p:spTree>
    <p:extLst>
      <p:ext uri="{BB962C8B-B14F-4D97-AF65-F5344CB8AC3E}">
        <p14:creationId xmlns:p14="http://schemas.microsoft.com/office/powerpoint/2010/main" val="324724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58" y="2292345"/>
            <a:ext cx="9590215" cy="170851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6600" dirty="0"/>
              <a:t>Obrigado</a:t>
            </a:r>
          </a:p>
        </p:txBody>
      </p:sp>
      <p:pic>
        <p:nvPicPr>
          <p:cNvPr id="2052" name="Picture 4" descr="Logo UFC com brasão.">
            <a:extLst>
              <a:ext uri="{FF2B5EF4-FFF2-40B4-BE49-F238E27FC236}">
                <a16:creationId xmlns:a16="http://schemas.microsoft.com/office/drawing/2014/main" id="{8820C9CC-C238-AC8C-742B-85A0941FA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0054" y="1588917"/>
            <a:ext cx="6036544" cy="268626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81F7719-973C-41CB-9EA9-DC7CEC76A0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67320" y="4666759"/>
            <a:ext cx="5402012" cy="67598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sz="2800" dirty="0">
                <a:solidFill>
                  <a:schemeClr val="tx1"/>
                </a:solidFill>
              </a:rPr>
              <a:t>Universidade Federal do Ceará</a:t>
            </a:r>
          </a:p>
        </p:txBody>
      </p:sp>
      <p:sp>
        <p:nvSpPr>
          <p:cNvPr id="2057" name="Slide Number Placeholder 4">
            <a:extLst>
              <a:ext uri="{FF2B5EF4-FFF2-40B4-BE49-F238E27FC236}">
                <a16:creationId xmlns:a16="http://schemas.microsoft.com/office/drawing/2014/main" id="{54AE4283-89D6-1EA1-9E60-5F1726AB8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08AB70BE-1769-45B8-85A6-0C837432C7E6}" type="slidenum">
              <a:rPr lang="pt-BR" smtClean="0"/>
              <a:pPr rtl="0">
                <a:spcAft>
                  <a:spcPts val="600"/>
                </a:spcAft>
              </a:pPr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109,861"/>
  <p:tag name="LATEXADDIN" val="\documentclass{article}&#10;\usepackage{amsmath}&#10;\pagestyle{empty}&#10;\begin{document}&#10;&#10;\[&#10;\Omega = \left\{&#10;\text{todas as rotas viáveis do tipo } d \rightarrow \mathcal{C}_r \rightarrow s&#10;\;\middle|\;&#10;d \in \mathcal{D}&#10;\right\}.&#10;\]&#10;&#10;&#10;&#10;\end{document}"/>
  <p:tag name="IGUANATEXSIZE" val="20"/>
  <p:tag name="IGUANATEXCURSOR" val="226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6,198"/>
  <p:tag name="ORIGINALWIDTH" val="4287,964"/>
  <p:tag name="LATEXADDIN" val="\documentclass{article}&#10;\usepackage{amsmath}&#10;\pagestyle{empty}&#10;\begin{document}&#10;\noindent&#10;onde cada:&#10;\\ rota $r \in \Omega$ inicia em $d \in \mathcal{D}$,&#10;visita um subconjunto $\mathcal{C}_r \subseteq \mathcal{C}$,&#10;termina em $s$ e satisfaz $|\mathcal{C}_r| \le Q$.&#10;&#10;&#10;&#10;\end{document}"/>
  <p:tag name="IGUANATEXSIZE" val="20"/>
  <p:tag name="IGUANATEXCURSOR" val="100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8,3802"/>
  <p:tag name="ORIGINALWIDTH" val="2934,383"/>
  <p:tag name="LATEXADDIN" val="\documentclass{article}&#10;\usepackage{amsmath}&#10;\pagestyle{empty}&#10;\begin{document}&#10;&#10;\noindent&#10;Para cada rota $r \in \Omega$, define-se&#10;\[&#10;\lambda_r \in \{0,1\},&#10;\]&#10;onde $\lambda_r = 1$ se a rota $r$ é selecionada.&#10;&#10;\noindent&#10;Além disso,&#10;$a_{ir} = 1$ se o cliente $i$ pertence à rota $r$,&#10;\\ e $0$ caso contrário,&#10;e $c_r$ denota o custo total da rota $r$.&#10;&#10;&#10;\end{document}"/>
  <p:tag name="IGUANATEXSIZE" val="20"/>
  <p:tag name="IGUANATEXCURSOR" val="0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8,3802"/>
  <p:tag name="ORIGINALWIDTH" val="2934,383"/>
  <p:tag name="LATEXADDIN" val="\documentclass{article}&#10;\usepackage{amsmath}&#10;\pagestyle{empty}&#10;\begin{document}&#10;&#10;\noindent&#10;Para cada rota $r \in \Omega$, define-se&#10;\[&#10;\lambda_r \in \{0,1\},&#10;\]&#10;onde $\lambda_r = 1$ se a rota $r$ é selecionada.&#10;&#10;\noindent&#10;Além disso,&#10;$a_{ir} = 1$ se o cliente $i$ pertence à rota $r$,&#10;\\ e $0$ caso contrário,&#10;e $c_r$ denota o custo total da rota $r$.&#10;&#10;&#10;\end{document}"/>
  <p:tag name="IGUANATEXSIZE" val="20"/>
  <p:tag name="IGUANATEXCURSOR" val="0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955,006"/>
  <p:tag name="LATEXADDIN" val="\documentclass{article}&#10;\usepackage{amsmath}&#10;\pagestyle{empty}&#10;\begin{document}&#10;&#10;\[&#10;\lambda_r =&#10;\begin{cases}&#10;1, &amp; \text{se a rota } r \text{ é selecionada}, \\&#10;0, &amp; \text{caso contrário}.&#10;\end{cases}&#10;\]&#10;&#10;&#10;&#10;\end{document}"/>
  <p:tag name="IGUANATEXSIZE" val="20"/>
  <p:tag name="IGUANATEXCURSOR" val="204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7,9002"/>
  <p:tag name="ORIGINALWIDTH" val="3683,54"/>
  <p:tag name="LATEXADDIN" val="\documentclass{article}&#10;\usepackage{amsmath}&#10;\pagestyle{empty}&#10;\begin{document}&#10;&#10;\paragraph{Implementação.}&#10;A restrição é escrita como&#10;\[&#10;\sum_{r \in \Omega} \lambda_r + s = K,&#10;\qquad s \ge 0,&#10;\]&#10;de modo a facilitar a obtenção do problema dual no RMP relaxado.&#10;&#10;&#10;&#10;\end{document}"/>
  <p:tag name="IGUANATEXSIZE" val="20"/>
  <p:tag name="IGUANATEXCURSOR" val="261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5,9355"/>
  <p:tag name="ORIGINALWIDTH" val="2623,172"/>
  <p:tag name="LATEXADDIN" val="\documentclass{article}&#10;\usepackage{amsmath}&#10;\pagestyle{empty}&#10;\begin{document}&#10;&#10;\textbf{Cobertura dos clientes}&#10;\[&#10;\sum_{r \in \Omega} a_{ir}\,\lambda_r = 1&#10;\qquad \forall i \in \mathcal{C}.&#10;\]&#10;&#10;&#10;&#10;\end{document}"/>
  <p:tag name="IGUANATEXSIZE" val="20"/>
  <p:tag name="IGUANATEXCURSOR" val="195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1,4511"/>
  <p:tag name="ORIGINALWIDTH" val="2267,717"/>
  <p:tag name="LATEXADDIN" val="\documentclass{article}&#10;\usepackage{amsmath}&#10;\pagestyle{empty}&#10;\begin{document}&#10;&#10;\textbf{Limite de frota}&#10;\[&#10;\sum_{r \in \Omega} \lambda_r \le K.&#10;\]&#10;&#10;&#10;&#10;\end{document}"/>
  <p:tag name="IGUANATEXSIZE" val="20"/>
  <p:tag name="IGUANATEXCURSOR" val="149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221,597"/>
  <p:tag name="LATEXADDIN" val="\documentclass{article}&#10;\usepackage{amsmath}&#10;\pagestyle{empty}&#10;\begin{document}&#10;&#10;&#10;\[&#10;\lambda_r \in \{0,1\}&#10;\qquad \forall r \in \Omega.&#10;\]&#10;&#10;&#10;\end{document}"/>
  <p:tag name="IGUANATEXSIZE" val="20"/>
  <p:tag name="IGUANATEXCURSOR" val="139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3,7158"/>
  <p:tag name="ORIGINALWIDTH" val="713,9108"/>
  <p:tag name="LATEXADDIN" val="\documentclass{article}&#10;\usepackage{amsmath}&#10;\pagestyle{empty}&#10;\begin{document}&#10;&#10;\[&#10;\min \sum_{r \in \Omega} c_r \,\lambda_r.&#10;\]&#10;&#10;&#10;&#10;\end{document}"/>
  <p:tag name="IGUANATEXSIZE" val="20"/>
  <p:tag name="IGUANATEXCURSOR" val="129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2358"/>
  <p:tag name="ORIGINALWIDTH" val="2866,892"/>
  <p:tag name="LATEXADDIN" val="\documentclass{article}&#10;\usepackage{amsmath}&#10;\pagestyle{empty}&#10;\begin{document}&#10;&#10;\[&#10;\pi_i \quad \text{: dual da restrição de cobertura do cliente } i \in \mathcal{C},&#10;\]&#10;&#10;&#10;\end{document}"/>
  <p:tag name="IGUANATEXSIZE" val="20"/>
  <p:tag name="IGUANATEXCURSOR" val="170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2358"/>
  <p:tag name="ORIGINALWIDTH" val="2395,95"/>
  <p:tag name="LATEXADDIN" val="\documentclass{article}&#10;\usepackage{amsmath}&#10;\pagestyle{empty}&#10;\begin{document}&#10;&#10;\[&#10;\pi_{\text{fleet}} \quad \text{: dual da restrição de limite de frota}.&#10;\]&#10;&#10;&#10;&#10;\end{document}"/>
  <p:tag name="IGUANATEXSIZE" val="20"/>
  <p:tag name="IGUANATEXCURSOR" val="80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3,7158"/>
  <p:tag name="ORIGINALWIDTH" val="2916,385"/>
  <p:tag name="LATEXADDIN" val="\documentclass{article}&#10;\usepackage{amsmath}&#10;\pagestyle{empty}&#10;\begin{document}&#10;&#10;\[&#10;\bar{c}_r = c_r - \sum_{i \in \mathcal{C}} \pi_i a_{ir} - \pi_{\text{fleet}},&#10;\qquad&#10;\bar{c}_r &lt; 0 \Rightarrow \text{nova coluna.}&#10;\]&#10;&#10;&#10;&#10;\end{document}"/>
  <p:tag name="IGUANATEXSIZE" val="20"/>
  <p:tag name="IGUANATEXCURSOR" val="218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982"/>
  <p:tag name="ORIGINALWIDTH" val="1640,045"/>
  <p:tag name="LATEXADDIN" val="\documentclass{article}&#10;\usepackage{amsmath}&#10;\pagestyle{empty}&#10;\begin{document}&#10;&#10;\[&#10;\pi^{\text{stab}}&#10;=&#10;\alpha\,\pi^{\text{curr}}&#10;+&#10;(1-\alpha)\,\pi^{\text{stab}}.&#10;\]&#10;&#10;&#10;&#10;\end{document}"/>
  <p:tag name="IGUANATEXSIZE" val="24"/>
  <p:tag name="IGUANATEXCURSOR" val="166"/>
  <p:tag name="TRANSPARENCY" val="Verdadeiro"/>
  <p:tag name="LATEXENGINEID" val="0"/>
  <p:tag name="TEMPFOLDER" val="C:\Users\Jonas Pereira\OneDrive\Área de Trabalho\Nova pasta\"/>
  <p:tag name="LATEXFORMHEIGHT" val="312"/>
  <p:tag name="LATEXFORMWIDTH" val="384"/>
  <p:tag name="LATEXFORMWRAP" val="Verdadeiro"/>
  <p:tag name="BITMAPVECTOR" val="0"/>
</p:tagLst>
</file>

<file path=ppt/theme/theme1.xml><?xml version="1.0" encoding="utf-8"?>
<a:theme xmlns:a="http://schemas.openxmlformats.org/drawingml/2006/main" name="Personalizado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5050_TF89118109_Win32" id="{D8DE3289-461F-4A32-8445-A44812763D12}" vid="{3C104A3C-967D-40E2-ADB5-0E1F3E8DB74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Design com sobreposições modernas</Template>
  <TotalTime>234</TotalTime>
  <Words>510</Words>
  <Application>Microsoft Office PowerPoint</Application>
  <PresentationFormat>Widescreen</PresentationFormat>
  <Paragraphs>120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Aptos Black</vt:lpstr>
      <vt:lpstr>Aptos Display</vt:lpstr>
      <vt:lpstr>Arial</vt:lpstr>
      <vt:lpstr>Arial Nova Light</vt:lpstr>
      <vt:lpstr>Calibri</vt:lpstr>
      <vt:lpstr>Cambria Math</vt:lpstr>
      <vt:lpstr>Elephant</vt:lpstr>
      <vt:lpstr>Wingdings</vt:lpstr>
      <vt:lpstr>Personalizado</vt:lpstr>
      <vt:lpstr>Problema de Roteamento de Veículos</vt:lpstr>
      <vt:lpstr>Sumário</vt:lpstr>
      <vt:lpstr>Multi-Depot Open VRP com destino final fixo (Single Sink)</vt:lpstr>
      <vt:lpstr>O Problema </vt:lpstr>
      <vt:lpstr>Restrições e objetivo</vt:lpstr>
      <vt:lpstr> Variáveis do Mestre (Set Partitioning)</vt:lpstr>
      <vt:lpstr>Apresentação do PowerPoint</vt:lpstr>
      <vt:lpstr>Restrições do Mestre</vt:lpstr>
      <vt:lpstr>Função objetivo do Mestre</vt:lpstr>
      <vt:lpstr>Geração de Colunas (custo reduzido)</vt:lpstr>
      <vt:lpstr>Pricing Problem (subproblema)</vt:lpstr>
      <vt:lpstr>Branch-and-Price </vt:lpstr>
      <vt:lpstr>Resultados</vt:lpstr>
      <vt:lpstr>Resultados</vt:lpstr>
      <vt:lpstr>Conclusão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das Chagas Castro</dc:creator>
  <cp:lastModifiedBy>Francisco das Chagas Castro</cp:lastModifiedBy>
  <cp:revision>3</cp:revision>
  <dcterms:created xsi:type="dcterms:W3CDTF">2026-01-13T17:05:29Z</dcterms:created>
  <dcterms:modified xsi:type="dcterms:W3CDTF">2026-01-13T21:28:54Z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